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Advanced Sentiment &amp; Categorization Engine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Transitioning from manual keyword matching to AI-driven contextual understanding for enterprise feedback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0273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Challenge: Legacy Systems Limiting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87266"/>
            <a:ext cx="454937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Current State: VADER Model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539371"/>
            <a:ext cx="47179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existing system relies on a 10-year-old lexicon-based approach that fundamentally misunderstands modern feedback patterns.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832152"/>
            <a:ext cx="4717971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Misses sarcasm and contextual meaning entirely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Struggles with industry-specific jargon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Requires constant manual keyword maintenance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accuracy: ~60% on complex text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95829" y="2660452"/>
            <a:ext cx="2611636" cy="4666297"/>
          </a:xfrm>
          <a:prstGeom prst="roundRect">
            <a:avLst>
              <a:gd name="adj" fmla="val 12507"/>
            </a:avLst>
          </a:prstGeom>
          <a:solidFill>
            <a:srgbClr val="84C1FA"/>
          </a:solidFill>
          <a:ln/>
        </p:spPr>
      </p:sp>
      <p:sp>
        <p:nvSpPr>
          <p:cNvPr id="8" name="Text 5"/>
          <p:cNvSpPr/>
          <p:nvPr/>
        </p:nvSpPr>
        <p:spPr>
          <a:xfrm>
            <a:off x="11622643" y="2887266"/>
            <a:ext cx="2158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Accuracy Gap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622643" y="3468410"/>
            <a:ext cx="215800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 model operates at coin-flip accuracy on nuanced feedback, limiting strategic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113" y="1044416"/>
            <a:ext cx="10117336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Upgrade? The Intelligence Difference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2113" y="2045137"/>
            <a:ext cx="13206174" cy="6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Moving from simple word-matching to genuine contextual understanding transforms feedback analysis from a manual burden into strategic intelligence.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2113" y="2867858"/>
            <a:ext cx="6511885" cy="1560909"/>
          </a:xfrm>
          <a:prstGeom prst="roundRect">
            <a:avLst>
              <a:gd name="adj" fmla="val 11732"/>
            </a:avLst>
          </a:prstGeom>
          <a:solidFill>
            <a:srgbClr val="CEE6FD"/>
          </a:solidFill>
          <a:ln/>
        </p:spPr>
      </p:sp>
      <p:sp>
        <p:nvSpPr>
          <p:cNvPr id="5" name="Text 3"/>
          <p:cNvSpPr/>
          <p:nvPr/>
        </p:nvSpPr>
        <p:spPr>
          <a:xfrm>
            <a:off x="915472" y="3071217"/>
            <a:ext cx="335363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Understanding vs. Matching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5472" y="3498533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Current: Scans for keywords like "bad" or "laptop"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5472" y="3916680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New: Interprets full sentence meaning and intent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402" y="2867858"/>
            <a:ext cx="6511885" cy="1560909"/>
          </a:xfrm>
          <a:prstGeom prst="roundRect">
            <a:avLst>
              <a:gd name="adj" fmla="val 11732"/>
            </a:avLst>
          </a:prstGeom>
          <a:solidFill>
            <a:srgbClr val="CEE6FD"/>
          </a:solidFill>
          <a:ln/>
        </p:spPr>
      </p:sp>
      <p:sp>
        <p:nvSpPr>
          <p:cNvPr id="9" name="Text 7"/>
          <p:cNvSpPr/>
          <p:nvPr/>
        </p:nvSpPr>
        <p:spPr>
          <a:xfrm>
            <a:off x="7609761" y="3071217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Sarcasm Detection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09761" y="3498533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Current: "Great, another crash" registers as positive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09761" y="3916680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New: Recognizes frustration and negative sentiment accurately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2113" y="4611172"/>
            <a:ext cx="6511885" cy="1560909"/>
          </a:xfrm>
          <a:prstGeom prst="roundRect">
            <a:avLst>
              <a:gd name="adj" fmla="val 11732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915472" y="4814530"/>
            <a:ext cx="290322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Self-Learning Capability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5472" y="5241846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Current: Manual keyword list updates required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5472" y="5659993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New: Automatically maps "Workstation" to IT category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402" y="4611172"/>
            <a:ext cx="6511885" cy="1560909"/>
          </a:xfrm>
          <a:prstGeom prst="roundRect">
            <a:avLst>
              <a:gd name="adj" fmla="val 11732"/>
            </a:avLst>
          </a:prstGeom>
          <a:solidFill>
            <a:srgbClr val="CEE6FD"/>
          </a:solidFill>
          <a:ln/>
        </p:spPr>
      </p:sp>
      <p:sp>
        <p:nvSpPr>
          <p:cNvPr id="17" name="Text 15"/>
          <p:cNvSpPr/>
          <p:nvPr/>
        </p:nvSpPr>
        <p:spPr>
          <a:xfrm>
            <a:off x="7609761" y="4814530"/>
            <a:ext cx="3430191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Professional Grade Accuracy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09761" y="5241846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Current: ~60% accuracy on complex feedback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09761" y="5659993"/>
            <a:ext cx="610516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New: ~92% accuracy across diverse feedback types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2113" y="6377345"/>
            <a:ext cx="13206174" cy="807839"/>
          </a:xfrm>
          <a:prstGeom prst="roundRect">
            <a:avLst>
              <a:gd name="adj" fmla="val 22668"/>
            </a:avLst>
          </a:prstGeom>
          <a:solidFill>
            <a:srgbClr val="B5DAF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472" y="6674525"/>
            <a:ext cx="254318" cy="20335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3148" y="6610588"/>
            <a:ext cx="12341781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Analogy: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Current tool is like "Ctrl+F" search; new system is like having a human assistant read and categorize each feedback item.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1021" y="1197888"/>
            <a:ext cx="8041958" cy="98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Selection: State-of-the-Art Benchmarking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51021" y="2345650"/>
            <a:ext cx="8041958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Selection based on rigorous 2026 industry standards evaluation: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51021" y="2681764"/>
            <a:ext cx="8041958" cy="1377196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3881" y="2704624"/>
            <a:ext cx="629722" cy="1331476"/>
          </a:xfrm>
          <a:prstGeom prst="roundRect">
            <a:avLst>
              <a:gd name="adj" fmla="val 18145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770692" y="3222784"/>
            <a:ext cx="236101" cy="295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312783" y="2862024"/>
            <a:ext cx="277379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DeBERTa-v3 (Recommended)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12783" y="3173492"/>
            <a:ext cx="7099935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State-of-the-Art for text classification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12783" y="3452217"/>
            <a:ext cx="7099935" cy="426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Outperforms BERT and RoBERTa in academic benchmarks while remaining free and open-source. Chosen for local deployment and data sovereignty.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1021" y="4168140"/>
            <a:ext cx="8041958" cy="1377196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3881" y="4191000"/>
            <a:ext cx="629722" cy="1331476"/>
          </a:xfrm>
          <a:prstGeom prst="roundRect">
            <a:avLst>
              <a:gd name="adj" fmla="val 18145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770692" y="4709160"/>
            <a:ext cx="236101" cy="295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312783" y="4348401"/>
            <a:ext cx="2946083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GPT-4o mini (Cloud Alternative)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2783" y="4659868"/>
            <a:ext cx="7099935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cost-effective LLM available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12783" y="4938593"/>
            <a:ext cx="7099935" cy="426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Selected if advanced reasoning capabilities outweigh privacy concerns. Balances performance with operational cost efficiency.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1021" y="5654516"/>
            <a:ext cx="8041958" cy="1377196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3881" y="5677376"/>
            <a:ext cx="629722" cy="1331476"/>
          </a:xfrm>
          <a:prstGeom prst="roundRect">
            <a:avLst>
              <a:gd name="adj" fmla="val 18145"/>
            </a:avLst>
          </a:prstGeom>
          <a:solidFill>
            <a:srgbClr val="CEE6FD"/>
          </a:solidFill>
          <a:ln/>
        </p:spPr>
      </p:sp>
      <p:sp>
        <p:nvSpPr>
          <p:cNvPr id="19" name="Text 16"/>
          <p:cNvSpPr/>
          <p:nvPr/>
        </p:nvSpPr>
        <p:spPr>
          <a:xfrm>
            <a:off x="770692" y="6195536"/>
            <a:ext cx="236101" cy="295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1312783" y="5834777"/>
            <a:ext cx="30682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ModernBERT (Speed Alternative)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12783" y="6146244"/>
            <a:ext cx="7099935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Optimized for long-form analysis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312783" y="6424970"/>
            <a:ext cx="7099935" cy="426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Specifically designed for 2026 workflows requiring processing of lengthy technical reports and detailed email correspondence.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350" y="1007388"/>
            <a:ext cx="7729299" cy="126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Strategic Implementation Framework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7350" y="2720816"/>
            <a:ext cx="3031808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Sovereignty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707350" y="3279696"/>
            <a:ext cx="3618071" cy="122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DeBERTa-v3 runs locally on company hardware, ensuring no sensitive employee or client feedback is transmitted to external cloud services.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826198" y="2720816"/>
            <a:ext cx="3031808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Enterprise Scalability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4826198" y="3279696"/>
            <a:ext cx="3618071" cy="122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Engine processes 10,000+ feedback rows per batch, integrating directly with Power BI dashboards for real-time insights.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7350" y="4968240"/>
            <a:ext cx="2426375" cy="66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$0</a:t>
            </a:r>
            <a:endParaRPr lang="en-US" sz="5250" dirty="0"/>
          </a:p>
        </p:txBody>
      </p:sp>
      <p:sp>
        <p:nvSpPr>
          <p:cNvPr id="9" name="Text 6"/>
          <p:cNvSpPr/>
          <p:nvPr/>
        </p:nvSpPr>
        <p:spPr>
          <a:xfrm>
            <a:off x="707350" y="5871210"/>
            <a:ext cx="2426375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Open Source Licensing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07350" y="6610707"/>
            <a:ext cx="2426375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MIT license eliminates software costs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358753" y="4968240"/>
            <a:ext cx="2426375" cy="66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15</a:t>
            </a:r>
            <a:endParaRPr lang="en-US" sz="5250" dirty="0"/>
          </a:p>
        </p:txBody>
      </p:sp>
      <p:sp>
        <p:nvSpPr>
          <p:cNvPr id="12" name="Text 9"/>
          <p:cNvSpPr/>
          <p:nvPr/>
        </p:nvSpPr>
        <p:spPr>
          <a:xfrm>
            <a:off x="3358753" y="5871210"/>
            <a:ext cx="2426375" cy="631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Monthly Hours Saved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3358753" y="6610707"/>
            <a:ext cx="2426375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Estimated reduction in manual data cleaning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010156" y="4968240"/>
            <a:ext cx="2426375" cy="66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92%</a:t>
            </a:r>
            <a:endParaRPr lang="en-US" sz="5250" dirty="0"/>
          </a:p>
        </p:txBody>
      </p:sp>
      <p:sp>
        <p:nvSpPr>
          <p:cNvPr id="15" name="Text 12"/>
          <p:cNvSpPr/>
          <p:nvPr/>
        </p:nvSpPr>
        <p:spPr>
          <a:xfrm>
            <a:off x="6010156" y="5871210"/>
            <a:ext cx="2426375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Accuracy Rate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010156" y="6294953"/>
            <a:ext cx="2426375" cy="91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Professional-grade classification performance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9930" y="1215152"/>
            <a:ext cx="6529864" cy="55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Business Impact &amp; ROI Analysis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9930" y="1981795"/>
            <a:ext cx="445294" cy="4452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09930" y="2601992"/>
            <a:ext cx="2519720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Enhanced Data Security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109930" y="2964180"/>
            <a:ext cx="7896939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processing eliminates third-party data exposure risks while maintaining full regulatory compliance with enterprise security standards.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9930" y="3752612"/>
            <a:ext cx="445294" cy="4452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09930" y="4372808"/>
            <a:ext cx="222694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Accelerated Insights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109930" y="4734997"/>
            <a:ext cx="7896939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classification reduces feedback processing time from days to hours, enabling faster strategic responses to emerging issues.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9930" y="5523428"/>
            <a:ext cx="445294" cy="4452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09930" y="6143625"/>
            <a:ext cx="222694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 Optimization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09930" y="6505813"/>
            <a:ext cx="7896939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licensing fees combined with 15+ monthly hours saved in manual work translates to significant operational cost savings.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088" y="862846"/>
            <a:ext cx="6170176" cy="62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Implementation Roadmap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5088" y="1850112"/>
            <a:ext cx="13220224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Phased deployment ensuring minimal disruption to existing workflows while maximizing adoption success: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5088" y="4191714"/>
            <a:ext cx="13220224" cy="22860"/>
          </a:xfrm>
          <a:prstGeom prst="roundRect">
            <a:avLst>
              <a:gd name="adj" fmla="val 793144"/>
            </a:avLst>
          </a:prstGeom>
          <a:solidFill>
            <a:srgbClr val="B4CCE3"/>
          </a:solidFill>
          <a:ln/>
        </p:spPr>
      </p:sp>
      <p:sp>
        <p:nvSpPr>
          <p:cNvPr id="5" name="Shape 3"/>
          <p:cNvSpPr/>
          <p:nvPr/>
        </p:nvSpPr>
        <p:spPr>
          <a:xfrm>
            <a:off x="3270409" y="3587413"/>
            <a:ext cx="22860" cy="604361"/>
          </a:xfrm>
          <a:prstGeom prst="roundRect">
            <a:avLst>
              <a:gd name="adj" fmla="val 793144"/>
            </a:avLst>
          </a:prstGeom>
          <a:solidFill>
            <a:srgbClr val="B4CCE3"/>
          </a:solidFill>
          <a:ln/>
        </p:spPr>
      </p:sp>
      <p:sp>
        <p:nvSpPr>
          <p:cNvPr id="6" name="Shape 4"/>
          <p:cNvSpPr/>
          <p:nvPr/>
        </p:nvSpPr>
        <p:spPr>
          <a:xfrm>
            <a:off x="3055263" y="3965079"/>
            <a:ext cx="453271" cy="453271"/>
          </a:xfrm>
          <a:prstGeom prst="roundRect">
            <a:avLst>
              <a:gd name="adj" fmla="val 40001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3130748" y="4002822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1490543" y="2355533"/>
            <a:ext cx="358294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Week 1-2: Infrastructure Setup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6542" y="2777490"/>
            <a:ext cx="4750951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model installation and hardware configuration on company servers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59197" y="4191655"/>
            <a:ext cx="22860" cy="604361"/>
          </a:xfrm>
          <a:prstGeom prst="roundRect">
            <a:avLst>
              <a:gd name="adj" fmla="val 793144"/>
            </a:avLst>
          </a:prstGeom>
          <a:solidFill>
            <a:srgbClr val="B4CCE3"/>
          </a:solidFill>
          <a:ln/>
        </p:spPr>
      </p:sp>
      <p:sp>
        <p:nvSpPr>
          <p:cNvPr id="11" name="Shape 9"/>
          <p:cNvSpPr/>
          <p:nvPr/>
        </p:nvSpPr>
        <p:spPr>
          <a:xfrm>
            <a:off x="5744051" y="3965079"/>
            <a:ext cx="453271" cy="453271"/>
          </a:xfrm>
          <a:prstGeom prst="roundRect">
            <a:avLst>
              <a:gd name="adj" fmla="val 40001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5819537" y="4002822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4381262" y="4997529"/>
            <a:ext cx="3178969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Week 3-4: Data Integration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595211" y="5419487"/>
            <a:ext cx="4751070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 to existing feedback sources and configure Power BI pipeline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47986" y="3587413"/>
            <a:ext cx="22860" cy="604361"/>
          </a:xfrm>
          <a:prstGeom prst="roundRect">
            <a:avLst>
              <a:gd name="adj" fmla="val 793144"/>
            </a:avLst>
          </a:prstGeom>
          <a:solidFill>
            <a:srgbClr val="B4CCE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32840" y="3965079"/>
            <a:ext cx="453271" cy="453271"/>
          </a:xfrm>
          <a:prstGeom prst="roundRect">
            <a:avLst>
              <a:gd name="adj" fmla="val 40001"/>
            </a:avLst>
          </a:prstGeom>
          <a:solidFill>
            <a:srgbClr val="CEE6F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8325" y="4002822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6964799" y="2355533"/>
            <a:ext cx="3389352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Week 5-6: Validation Testing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284000" y="2777490"/>
            <a:ext cx="4751070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Benchmark against historical data and verify 90%+ accuracy targets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1336774" y="4191655"/>
            <a:ext cx="22860" cy="604361"/>
          </a:xfrm>
          <a:prstGeom prst="roundRect">
            <a:avLst>
              <a:gd name="adj" fmla="val 793144"/>
            </a:avLst>
          </a:prstGeom>
          <a:solidFill>
            <a:srgbClr val="B4CCE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21628" y="3965079"/>
            <a:ext cx="453271" cy="453271"/>
          </a:xfrm>
          <a:prstGeom prst="roundRect">
            <a:avLst>
              <a:gd name="adj" fmla="val 40001"/>
            </a:avLst>
          </a:prstGeom>
          <a:solidFill>
            <a:srgbClr val="CEE6FD"/>
          </a:solidFill>
          <a:ln/>
        </p:spPr>
      </p:sp>
      <p:sp>
        <p:nvSpPr>
          <p:cNvPr id="22" name="Text 20"/>
          <p:cNvSpPr/>
          <p:nvPr/>
        </p:nvSpPr>
        <p:spPr>
          <a:xfrm>
            <a:off x="11197114" y="4002822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350" dirty="0"/>
          </a:p>
        </p:txBody>
      </p:sp>
      <p:sp>
        <p:nvSpPr>
          <p:cNvPr id="23" name="Text 21"/>
          <p:cNvSpPr/>
          <p:nvPr/>
        </p:nvSpPr>
        <p:spPr>
          <a:xfrm>
            <a:off x="9604058" y="4997529"/>
            <a:ext cx="3488531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Week 7-8: Production Launch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972788" y="5419487"/>
            <a:ext cx="4751070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deployment with monitoring dashboards and user training sessions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5088" y="6407944"/>
            <a:ext cx="2518172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1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05088" y="6901458"/>
            <a:ext cx="4033361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infrastructure and model deployment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237559" y="6407944"/>
            <a:ext cx="2518172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2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5237559" y="6901458"/>
            <a:ext cx="4033361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Integration and validation testing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770031" y="6407944"/>
            <a:ext cx="2518172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3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770031" y="6901458"/>
            <a:ext cx="4170402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Enterprise-wide rollout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362" y="1281351"/>
            <a:ext cx="7925276" cy="1088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Competitive Landscape: 2026 Benchmark Analysis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362" y="2569964"/>
            <a:ext cx="7925276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DeBERTa-v3 outperforms established alternatives in academic and enterprise benchmarks: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9362" y="2966323"/>
            <a:ext cx="7925276" cy="123825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6502" y="2966323"/>
            <a:ext cx="91440" cy="1238250"/>
          </a:xfrm>
          <a:prstGeom prst="roundRect">
            <a:avLst>
              <a:gd name="adj" fmla="val 171369"/>
            </a:avLst>
          </a:prstGeom>
          <a:solidFill>
            <a:srgbClr val="84C1FA"/>
          </a:solidFill>
          <a:ln/>
        </p:spPr>
      </p:sp>
      <p:sp>
        <p:nvSpPr>
          <p:cNvPr id="7" name="Text 4"/>
          <p:cNvSpPr/>
          <p:nvPr/>
        </p:nvSpPr>
        <p:spPr>
          <a:xfrm>
            <a:off x="874871" y="3163253"/>
            <a:ext cx="2176343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vs. Traditional BERT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74871" y="3515439"/>
            <a:ext cx="7462838" cy="4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DeBERTa-v3 demonstrates 8-12% higher accuracy on sentiment classification tasks while processing 40% faster on comparable hardware configurations.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9362" y="4338161"/>
            <a:ext cx="7925276" cy="123825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6502" y="4338161"/>
            <a:ext cx="91440" cy="1238250"/>
          </a:xfrm>
          <a:prstGeom prst="roundRect">
            <a:avLst>
              <a:gd name="adj" fmla="val 171369"/>
            </a:avLst>
          </a:prstGeom>
          <a:solidFill>
            <a:srgbClr val="84C1FA"/>
          </a:solidFill>
          <a:ln/>
        </p:spPr>
      </p:sp>
      <p:sp>
        <p:nvSpPr>
          <p:cNvPr id="11" name="Text 8"/>
          <p:cNvSpPr/>
          <p:nvPr/>
        </p:nvSpPr>
        <p:spPr>
          <a:xfrm>
            <a:off x="874871" y="4535091"/>
            <a:ext cx="2176343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vs. RoBERTa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74871" y="4887278"/>
            <a:ext cx="7462838" cy="4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Maintains superior performance on domain-specific classification while reducing model size by 25%, enabling deployment on standard enterprise hardware.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9362" y="5709999"/>
            <a:ext cx="7925276" cy="1238250"/>
          </a:xfrm>
          <a:prstGeom prst="roundRect">
            <a:avLst>
              <a:gd name="adj" fmla="val 886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6502" y="5709999"/>
            <a:ext cx="91440" cy="1238250"/>
          </a:xfrm>
          <a:prstGeom prst="roundRect">
            <a:avLst>
              <a:gd name="adj" fmla="val 171369"/>
            </a:avLst>
          </a:prstGeom>
          <a:solidFill>
            <a:srgbClr val="84C1FA"/>
          </a:solidFill>
          <a:ln/>
        </p:spPr>
      </p:sp>
      <p:sp>
        <p:nvSpPr>
          <p:cNvPr id="15" name="Text 12"/>
          <p:cNvSpPr/>
          <p:nvPr/>
        </p:nvSpPr>
        <p:spPr>
          <a:xfrm>
            <a:off x="874871" y="5906929"/>
            <a:ext cx="2176343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vs. Commercial APIs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74871" y="6259116"/>
            <a:ext cx="7462838" cy="4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Eliminates per-query costs associated with cloud-based solutions, achieving comparable accuracy without recurring licensing fees or data privacy concerns.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409" y="1311593"/>
            <a:ext cx="5641777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Performance Indicators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8409" y="2141577"/>
            <a:ext cx="2531269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92%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2943" y="2902029"/>
            <a:ext cx="238220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Classification Accuracy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8409" y="3253502"/>
            <a:ext cx="2531269" cy="49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minimum across diverse feedback categories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306247" y="2141577"/>
            <a:ext cx="2531388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10K+</a:t>
            </a:r>
            <a:endParaRPr lang="en-US" sz="4500" dirty="0"/>
          </a:p>
        </p:txBody>
      </p:sp>
      <p:sp>
        <p:nvSpPr>
          <p:cNvPr id="8" name="Text 5"/>
          <p:cNvSpPr/>
          <p:nvPr/>
        </p:nvSpPr>
        <p:spPr>
          <a:xfrm>
            <a:off x="3485317" y="2902029"/>
            <a:ext cx="217324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Rows Processed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306247" y="3253502"/>
            <a:ext cx="2531388" cy="49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 batch in standard enterprise environment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04203" y="2141577"/>
            <a:ext cx="2531269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$0</a:t>
            </a:r>
            <a:endParaRPr lang="en-US" sz="4500" dirty="0"/>
          </a:p>
        </p:txBody>
      </p:sp>
      <p:sp>
        <p:nvSpPr>
          <p:cNvPr id="11" name="Text 8"/>
          <p:cNvSpPr/>
          <p:nvPr/>
        </p:nvSpPr>
        <p:spPr>
          <a:xfrm>
            <a:off x="6183154" y="2902029"/>
            <a:ext cx="217324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Software Licensing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004203" y="3253502"/>
            <a:ext cx="2531269" cy="49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Open-source MIT license eliminates costs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306247" y="4098131"/>
            <a:ext cx="2531388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15</a:t>
            </a:r>
            <a:endParaRPr lang="en-US" sz="4500" dirty="0"/>
          </a:p>
        </p:txBody>
      </p:sp>
      <p:sp>
        <p:nvSpPr>
          <p:cNvPr id="14" name="Text 11"/>
          <p:cNvSpPr/>
          <p:nvPr/>
        </p:nvSpPr>
        <p:spPr>
          <a:xfrm>
            <a:off x="3485317" y="4858583"/>
            <a:ext cx="2173248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Hours Saved Monthly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306247" y="5210056"/>
            <a:ext cx="2531388" cy="49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Estimated reduction in manual data cleaning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8409" y="5901095"/>
            <a:ext cx="2607945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Operational Metrics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608409" y="6426756"/>
            <a:ext cx="7927181" cy="491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Processing time under 30 minutes for 10,000 rows; integration with existing Power BI dashboards without additional middleware.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0638" y="1133475"/>
            <a:ext cx="7452003" cy="512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Next Steps: Implementation Readiness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638" y="1824157"/>
            <a:ext cx="820341" cy="9844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99565" y="1988225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Review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999565" y="2315766"/>
            <a:ext cx="705659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 review with engineering team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638" y="2808565"/>
            <a:ext cx="820341" cy="9844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99565" y="2972633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Resource Allocation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999565" y="3300174"/>
            <a:ext cx="705659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server capacity and personnel needs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638" y="3792974"/>
            <a:ext cx="820341" cy="98440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99565" y="3957042"/>
            <a:ext cx="2050971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Timeline Planning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999565" y="4284583"/>
            <a:ext cx="7056596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Lock implementation dates and milestones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6060638" y="4955381"/>
            <a:ext cx="2790468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Requirements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6060638" y="5440918"/>
            <a:ext cx="799552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3.9+ environment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8GB+ RAM for model loading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 enterprise server hardware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BI connector configuration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306741" y="6736556"/>
            <a:ext cx="7749421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Ready to transform feedback analysis from manual burden to strategic intelligence.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060638" y="6603087"/>
            <a:ext cx="22860" cy="493038"/>
          </a:xfrm>
          <a:prstGeom prst="rect">
            <a:avLst/>
          </a:prstGeom>
          <a:solidFill>
            <a:srgbClr val="84C1F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2026-03-27T01:58:53Z</dcterms:created>
  <dcterms:modified xsi:type="dcterms:W3CDTF">2026-03-27T01:58:53Z</dcterms:modified>
</cp:coreProperties>
</file>